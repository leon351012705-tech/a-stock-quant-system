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组 不过滤</c:v>
                </c:pt>
              </c:strCache>
            </c:strRef>
          </c:tx>
          <c:spPr>
            <a:solidFill>
              <a:srgbClr val="4C66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D4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胜率 %</c:v>
                  </c:pt>
                  <c:pt idx="1">
                    <c:v>累计收益 %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53.2</c:v>
                </c:pt>
                <c:pt idx="1">
                  <c:v>56.8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组 加过滤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D4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胜率 %</c:v>
                  </c:pt>
                  <c:pt idx="1">
                    <c:v>累计收益 %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58.1</c:v>
                </c:pt>
                <c:pt idx="1">
                  <c:v>29.5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D4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07B8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0E5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B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32F4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182880" cy="1828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8129016" y="457200"/>
            <a:ext cx="182880" cy="182880"/>
          </a:xfrm>
          <a:prstGeom prst="rect">
            <a:avLst/>
          </a:prstGeom>
          <a:solidFill>
            <a:srgbClr val="E8A33D">
              <a:alpha val="8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39912" y="457200"/>
            <a:ext cx="182880" cy="182880"/>
          </a:xfrm>
          <a:prstGeom prst="rect">
            <a:avLst/>
          </a:prstGeom>
          <a:solidFill>
            <a:srgbClr val="E8A33D">
              <a:alpha val="7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768096"/>
            <a:ext cx="182880" cy="182880"/>
          </a:xfrm>
          <a:prstGeom prst="rect">
            <a:avLst/>
          </a:prstGeom>
          <a:solidFill>
            <a:srgbClr val="E8A33D">
              <a:alpha val="5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29016" y="768096"/>
            <a:ext cx="182880" cy="182880"/>
          </a:xfrm>
          <a:prstGeom prst="rect">
            <a:avLst/>
          </a:prstGeom>
          <a:solidFill>
            <a:srgbClr val="E8A33D">
              <a:alpha val="4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713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个人作品集  ·  PORTFOLIO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股量化交易系统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从数据采集到信号推送的全自动决策引擎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3310128"/>
            <a:ext cx="1883664" cy="1060704"/>
          </a:xfrm>
          <a:prstGeom prst="rect">
            <a:avLst/>
          </a:prstGeom>
          <a:solidFill>
            <a:srgbClr val="1F2D4E"/>
          </a:solidFill>
          <a:ln w="12700">
            <a:solidFill>
              <a:srgbClr val="2E43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310128"/>
            <a:ext cx="6400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1985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4000+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68680" y="387705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Python 代码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34056" y="3310128"/>
            <a:ext cx="1883664" cy="1060704"/>
          </a:xfrm>
          <a:prstGeom prst="rect">
            <a:avLst/>
          </a:prstGeom>
          <a:solidFill>
            <a:srgbClr val="1F2D4E"/>
          </a:solidFill>
          <a:ln w="12700">
            <a:solidFill>
              <a:srgbClr val="2E43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34056" y="3310128"/>
            <a:ext cx="6400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2916936" y="341985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5520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916936" y="387705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 A 股全覆盖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82312" y="3310128"/>
            <a:ext cx="1883664" cy="1060704"/>
          </a:xfrm>
          <a:prstGeom prst="rect">
            <a:avLst/>
          </a:prstGeom>
          <a:solidFill>
            <a:srgbClr val="1F2D4E"/>
          </a:solidFill>
          <a:ln w="12700">
            <a:solidFill>
              <a:srgbClr val="2E43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82312" y="3310128"/>
            <a:ext cx="6400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341985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728 万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4965192" y="387705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行历史日线数据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30568" y="3310128"/>
            <a:ext cx="1883664" cy="1060704"/>
          </a:xfrm>
          <a:prstGeom prst="rect">
            <a:avLst/>
          </a:prstGeom>
          <a:solidFill>
            <a:srgbClr val="1F2D4E"/>
          </a:solidFill>
          <a:ln w="12700">
            <a:solidFill>
              <a:srgbClr val="2E43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0568" y="3310128"/>
            <a:ext cx="6400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7013448" y="341985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层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7013448" y="387705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模块化架构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独立设计 · 独立开发 · 独立维护   |   Python · SQLite · 多源行情数据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65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" y="129844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一个人从零设计、开发、维护的 A 股量化决策系统。每日盘后自动拉取全市场行情，运行多策略扫描，输出经过多维评分的交易信号。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6384" y="2368296"/>
            <a:ext cx="118872" cy="1188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267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48840" y="22677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半自动决策助手 — 系统选股，人工拍板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" y="2935224"/>
            <a:ext cx="118872" cy="1188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834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运行方式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48840" y="28346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 17:30 一键运行，~80 秒完成全流程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" y="3502152"/>
            <a:ext cx="118872" cy="1188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4015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数据规模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48840" y="3401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5520 只股票 × 6 年日线 = 728 万行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" y="4069080"/>
            <a:ext cx="118872" cy="1188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968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交付产物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48840" y="39684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每日信号邮件，含星级评分与风险标签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32120" y="1298448"/>
            <a:ext cx="1993392" cy="1481328"/>
          </a:xfrm>
          <a:prstGeom prst="roundRect">
            <a:avLst>
              <a:gd name="adj" fmla="val 4938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15000" y="1481328"/>
            <a:ext cx="457200" cy="457200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5584" y="1581912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696712" y="195681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5715000" y="23774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模块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726680" y="1298448"/>
            <a:ext cx="1993392" cy="1481328"/>
          </a:xfrm>
          <a:prstGeom prst="roundRect">
            <a:avLst>
              <a:gd name="adj" fmla="val 4938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09560" y="1481328"/>
            <a:ext cx="457200" cy="457200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581912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891272" y="195681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7909560" y="23774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交易策略并行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532120" y="2980944"/>
            <a:ext cx="1993392" cy="1481328"/>
          </a:xfrm>
          <a:prstGeom prst="roundRect">
            <a:avLst>
              <a:gd name="adj" fmla="val 4938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715000" y="3163824"/>
            <a:ext cx="457200" cy="457200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3264408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696712" y="363931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32" name="Text 27"/>
          <p:cNvSpPr/>
          <p:nvPr/>
        </p:nvSpPr>
        <p:spPr>
          <a:xfrm>
            <a:off x="5715000" y="405993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数据源容错切换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7726680" y="2980944"/>
            <a:ext cx="1993392" cy="1481328"/>
          </a:xfrm>
          <a:prstGeom prst="roundRect">
            <a:avLst>
              <a:gd name="adj" fmla="val 4938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909560" y="3163824"/>
            <a:ext cx="457200" cy="457200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3264408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891272" y="363931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600" dirty="0"/>
          </a:p>
        </p:txBody>
      </p:sp>
      <p:sp>
        <p:nvSpPr>
          <p:cNvPr id="37" name="Text 31"/>
          <p:cNvSpPr/>
          <p:nvPr/>
        </p:nvSpPr>
        <p:spPr>
          <a:xfrm>
            <a:off x="7909560" y="405993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全流程自动化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A股量化交易系统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768096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65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六层系统架构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" y="11338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数据自下而上流动 — 每一层只依赖下层接口，职责单一、可独立替换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" y="1463040"/>
            <a:ext cx="7571232" cy="475488"/>
          </a:xfrm>
          <a:prstGeom prst="rect">
            <a:avLst/>
          </a:prstGeom>
          <a:solidFill>
            <a:srgbClr val="4C6699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463040"/>
            <a:ext cx="566928" cy="4754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46304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0477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38528" y="14630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输出层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621024" y="14630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 / 微信推送 — 美化排版，星级评分排序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6384" y="1997964"/>
            <a:ext cx="7571232" cy="475488"/>
          </a:xfrm>
          <a:prstGeom prst="rect">
            <a:avLst/>
          </a:prstGeom>
          <a:solidFill>
            <a:srgbClr val="4C6699"/>
          </a:solidFill>
          <a:ln/>
        </p:spPr>
      </p:sp>
      <p:sp>
        <p:nvSpPr>
          <p:cNvPr id="13" name="Shape 10"/>
          <p:cNvSpPr/>
          <p:nvPr/>
        </p:nvSpPr>
        <p:spPr>
          <a:xfrm>
            <a:off x="786384" y="1997964"/>
            <a:ext cx="566928" cy="4754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199796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139696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38528" y="199796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环境过滤层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21024" y="19979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市场情绪两层判断 — 弱市自动停止推送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86384" y="2532888"/>
            <a:ext cx="7571232" cy="475488"/>
          </a:xfrm>
          <a:prstGeom prst="rect">
            <a:avLst/>
          </a:prstGeom>
          <a:solidFill>
            <a:srgbClr val="2E4372"/>
          </a:solidFill>
          <a:ln/>
        </p:spPr>
      </p:sp>
      <p:sp>
        <p:nvSpPr>
          <p:cNvPr id="19" name="Shape 15"/>
          <p:cNvSpPr/>
          <p:nvPr/>
        </p:nvSpPr>
        <p:spPr>
          <a:xfrm>
            <a:off x="786384" y="2532888"/>
            <a:ext cx="566928" cy="4754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6"/>
          <p:cNvSpPr/>
          <p:nvPr/>
        </p:nvSpPr>
        <p:spPr>
          <a:xfrm>
            <a:off x="786384" y="253288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67462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38528" y="25328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共振层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3621024" y="253288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日窗口双确认 — boll_rv + 趋势策略叠加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86384" y="3067812"/>
            <a:ext cx="7571232" cy="475488"/>
          </a:xfrm>
          <a:prstGeom prst="rect">
            <a:avLst/>
          </a:prstGeom>
          <a:solidFill>
            <a:srgbClr val="2E4372"/>
          </a:solidFill>
          <a:ln/>
        </p:spPr>
      </p:sp>
      <p:sp>
        <p:nvSpPr>
          <p:cNvPr id="25" name="Shape 20"/>
          <p:cNvSpPr/>
          <p:nvPr/>
        </p:nvSpPr>
        <p:spPr>
          <a:xfrm>
            <a:off x="786384" y="3067812"/>
            <a:ext cx="566928" cy="4754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1"/>
          <p:cNvSpPr/>
          <p:nvPr/>
        </p:nvSpPr>
        <p:spPr>
          <a:xfrm>
            <a:off x="786384" y="306781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209544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938528" y="306781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策略层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3621024" y="306781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策略并行 — MACD / 布林 / 均线 / SSB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86384" y="3602736"/>
            <a:ext cx="7571232" cy="475488"/>
          </a:xfrm>
          <a:prstGeom prst="rect">
            <a:avLst/>
          </a:prstGeom>
          <a:solidFill>
            <a:srgbClr val="1F2D4E"/>
          </a:solidFill>
          <a:ln/>
        </p:spPr>
      </p:sp>
      <p:sp>
        <p:nvSpPr>
          <p:cNvPr id="31" name="Shape 25"/>
          <p:cNvSpPr/>
          <p:nvPr/>
        </p:nvSpPr>
        <p:spPr>
          <a:xfrm>
            <a:off x="786384" y="3602736"/>
            <a:ext cx="566928" cy="4754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2" name="Text 26"/>
          <p:cNvSpPr/>
          <p:nvPr/>
        </p:nvSpPr>
        <p:spPr>
          <a:xfrm>
            <a:off x="786384" y="360273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744468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938528" y="360273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行情层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3621024" y="360273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增量更新 — 自动补 gap，节假日感知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786384" y="4137660"/>
            <a:ext cx="7571232" cy="475488"/>
          </a:xfrm>
          <a:prstGeom prst="rect">
            <a:avLst/>
          </a:prstGeom>
          <a:solidFill>
            <a:srgbClr val="1F2D4E"/>
          </a:solidFill>
          <a:ln/>
        </p:spPr>
      </p:sp>
      <p:sp>
        <p:nvSpPr>
          <p:cNvPr id="37" name="Shape 30"/>
          <p:cNvSpPr/>
          <p:nvPr/>
        </p:nvSpPr>
        <p:spPr>
          <a:xfrm>
            <a:off x="786384" y="4137660"/>
            <a:ext cx="566928" cy="4754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8" name="Text 31"/>
          <p:cNvSpPr/>
          <p:nvPr/>
        </p:nvSpPr>
        <p:spPr>
          <a:xfrm>
            <a:off x="786384" y="41376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4279392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938528" y="41376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数据层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3621024" y="41376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存储 — 728 万行，WAL + 索引优化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A股量化交易系统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768096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65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技术栈选型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86384" y="1280160"/>
            <a:ext cx="3950208" cy="1517904"/>
          </a:xfrm>
          <a:prstGeom prst="roundRect">
            <a:avLst>
              <a:gd name="adj" fmla="val 4217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1517904"/>
            <a:ext cx="512064" cy="512064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367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15544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语言与运行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00784" y="2048256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 向量化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计划任务调度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0" y="1280160"/>
            <a:ext cx="3950208" cy="1517904"/>
          </a:xfrm>
          <a:prstGeom prst="roundRect">
            <a:avLst>
              <a:gd name="adj" fmla="val 4217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75504" y="1517904"/>
            <a:ext cx="512064" cy="512064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63677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15544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852160" y="2048256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WAL 模式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索引加速广度查询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executemany 批量写入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6384" y="2980944"/>
            <a:ext cx="3950208" cy="1517904"/>
          </a:xfrm>
          <a:prstGeom prst="roundRect">
            <a:avLst>
              <a:gd name="adj" fmla="val 4217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24128" y="3218688"/>
            <a:ext cx="512064" cy="512064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3375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0784" y="325526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行情数据源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00784" y="374904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Tushare — 主通道（全市场日 K）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BaoStock — 备用通道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akshare — 股票池 / 日历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937760" y="2980944"/>
            <a:ext cx="3950208" cy="1517904"/>
          </a:xfrm>
          <a:prstGeom prst="roundRect">
            <a:avLst>
              <a:gd name="adj" fmla="val 4217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175504" y="3218688"/>
            <a:ext cx="512064" cy="512064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33375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52160" y="3255264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信号与推送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852160" y="3749040"/>
            <a:ext cx="2807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邮件推送（自带美化）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Server酱 微信推送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月度统计导出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A股量化交易系统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768096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65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工程化的数据底座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" y="1371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728 万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行日线数据，覆盖 2020 年至今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86384" y="24505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 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单日全市场广度查询（优化前 100-500ms）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6384" y="35295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 GB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40782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单库，WAL 模式读写不阻塞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74920" y="1298448"/>
            <a:ext cx="3584448" cy="3163824"/>
          </a:xfrm>
          <a:prstGeom prst="roundRect">
            <a:avLst>
              <a:gd name="adj" fmla="val 2312"/>
            </a:avLst>
          </a:prstGeom>
          <a:solidFill>
            <a:srgbClr val="1F2D4E"/>
          </a:solidFill>
          <a:ln w="12700">
            <a:solidFill>
              <a:srgbClr val="2E4372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三层数据源容错链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21808" y="1993392"/>
            <a:ext cx="91440" cy="6035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522976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Tushare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22976" y="22494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主通道 · 1 次 API 取全市场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48656" y="25603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21808" y="2834640"/>
            <a:ext cx="91440" cy="603504"/>
          </a:xfrm>
          <a:prstGeom prst="rect">
            <a:avLst/>
          </a:prstGeom>
          <a:solidFill>
            <a:srgbClr val="4C6699"/>
          </a:solidFill>
          <a:ln/>
        </p:spPr>
      </p:sp>
      <p:sp>
        <p:nvSpPr>
          <p:cNvPr id="18" name="Text 16"/>
          <p:cNvSpPr/>
          <p:nvPr/>
        </p:nvSpPr>
        <p:spPr>
          <a:xfrm>
            <a:off x="5522976" y="28163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BaoStock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22976" y="30906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备用 · 探测前哨防空跑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48656" y="34015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21808" y="3675888"/>
            <a:ext cx="91440" cy="603504"/>
          </a:xfrm>
          <a:prstGeom prst="rect">
            <a:avLst/>
          </a:prstGeom>
          <a:solidFill>
            <a:srgbClr val="B9CCEA"/>
          </a:solidFill>
          <a:ln/>
        </p:spPr>
      </p:sp>
      <p:sp>
        <p:nvSpPr>
          <p:cNvPr id="22" name="Text 20"/>
          <p:cNvSpPr/>
          <p:nvPr/>
        </p:nvSpPr>
        <p:spPr>
          <a:xfrm>
            <a:off x="5522976" y="3657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精确诊断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2976" y="3931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区分『未发布 / 节假日 / 异常』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A股量化交易系统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8096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65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SIGNAL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策略层 + 信号层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86384" y="1280160"/>
            <a:ext cx="2670048" cy="1060704"/>
          </a:xfrm>
          <a:prstGeom prst="roundRect">
            <a:avLst>
              <a:gd name="adj" fmla="val 6034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280160"/>
            <a:ext cx="6400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3990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MACD 金叉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0" y="142646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2E437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42646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175564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上穿 DEA，零轴下方更可靠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02736" y="1280160"/>
            <a:ext cx="2670048" cy="1060704"/>
          </a:xfrm>
          <a:prstGeom prst="roundRect">
            <a:avLst>
              <a:gd name="adj" fmla="val 6034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2736" y="1280160"/>
            <a:ext cx="6400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803904" y="13990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布林带超跌反弹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59552" y="142646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2E4372"/>
          </a:solidFill>
          <a:ln/>
        </p:spPr>
      </p:sp>
      <p:sp>
        <p:nvSpPr>
          <p:cNvPr id="15" name="Text 13"/>
          <p:cNvSpPr/>
          <p:nvPr/>
        </p:nvSpPr>
        <p:spPr>
          <a:xfrm>
            <a:off x="5559552" y="142646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03904" y="175564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跌破下轨后收回，超跌反弹确认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384" y="2487168"/>
            <a:ext cx="2670048" cy="1060704"/>
          </a:xfrm>
          <a:prstGeom prst="roundRect">
            <a:avLst>
              <a:gd name="adj" fmla="val 6034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2487168"/>
            <a:ext cx="6400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26060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均线多头排列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743200" y="263347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2E437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2633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552" y="296265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MA5&gt;10&gt;20&gt;60，趋势刚启动入场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02736" y="2487168"/>
            <a:ext cx="2670048" cy="1060704"/>
          </a:xfrm>
          <a:prstGeom prst="roundRect">
            <a:avLst>
              <a:gd name="adj" fmla="val 6034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02736" y="2487168"/>
            <a:ext cx="6400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3803904" y="26060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SSB 趋势回踩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559552" y="263347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2E4372"/>
          </a:solidFill>
          <a:ln/>
        </p:spPr>
      </p:sp>
      <p:sp>
        <p:nvSpPr>
          <p:cNvPr id="27" name="Text 25"/>
          <p:cNvSpPr/>
          <p:nvPr/>
        </p:nvSpPr>
        <p:spPr>
          <a:xfrm>
            <a:off x="5559552" y="2633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03904" y="296265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上升趋势中回踩 MA20，缩量企稳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82512" y="1280160"/>
            <a:ext cx="2286000" cy="2267712"/>
          </a:xfrm>
          <a:prstGeom prst="roundRect">
            <a:avLst>
              <a:gd name="adj" fmla="val 3226"/>
            </a:avLst>
          </a:prstGeom>
          <a:solidFill>
            <a:srgbClr val="1F2D4E"/>
          </a:solidFill>
          <a:ln/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14264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信号层核心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1792224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共振规则 V4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CCEA"/>
                </a:solidFill>
              </a:rPr>
              <a:t>boll_rv 必须命中 + 至少一个趋势策略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多维评分 Ranker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CCEA"/>
                </a:solidFill>
              </a:rPr>
              <a:t>新鲜度 / 共振强度 / 趋势 / 流动性 / 风险 五维加权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" y="3730752"/>
            <a:ext cx="7882128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904488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44752" y="373075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板块感知涨跌停  </a:t>
            </a:r>
            <a:pPr indent="0" marL="0">
              <a:buNone/>
            </a:pPr>
            <a:r>
              <a:rPr lang="en-US" sz="11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主板 10% / 创业·科创 20% / ST 5% — 按板块自动判定，避免误过滤强势股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A股量化交易系统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68096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65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工程亮点 ① — 性能优化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86384" y="1298448"/>
            <a:ext cx="3822192" cy="1517904"/>
          </a:xfrm>
          <a:prstGeom prst="roundRect">
            <a:avLst>
              <a:gd name="adj" fmla="val 4819"/>
            </a:avLst>
          </a:prstGeom>
          <a:solidFill>
            <a:srgbClr val="1F2D4E"/>
          </a:solidFill>
          <a:ln/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1426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单日广度查询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55264" y="1371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100x+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24128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4C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100 - 500 ms  </a:t>
            </a:r>
            <a:pPr indent="0" marL="0">
              <a:buNone/>
            </a:pPr>
            <a:r>
              <a:rPr lang="en-US" sz="14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9744" y="1298448"/>
            <a:ext cx="3822192" cy="1517904"/>
          </a:xfrm>
          <a:prstGeom prst="roundRect">
            <a:avLst>
              <a:gd name="adj" fmla="val 4819"/>
            </a:avLst>
          </a:prstGeom>
          <a:solidFill>
            <a:srgbClr val="1F2D4E"/>
          </a:solidFill>
          <a:ln/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47488" y="1426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节假日补数据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78624" y="1371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180x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047488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4C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分钟（卡死）  </a:t>
            </a:r>
            <a:pPr indent="0" marL="0">
              <a:buNone/>
            </a:pPr>
            <a:r>
              <a:rPr lang="en-US" sz="14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3054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关键优化手段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" y="3419856"/>
            <a:ext cx="3950208" cy="603504"/>
          </a:xfrm>
          <a:prstGeom prst="rect">
            <a:avLst/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419856"/>
            <a:ext cx="54864" cy="6035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" y="348386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批量查询替代循环单查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9264" y="371246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5499 次单股 SELECT → 1 次全量加载 + 内存 groupby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937760" y="3419856"/>
            <a:ext cx="3950208" cy="603504"/>
          </a:xfrm>
          <a:prstGeom prst="rect">
            <a:avLst/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3419856"/>
            <a:ext cx="54864" cy="6035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48386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模式 + 索引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71246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读写不阻塞；trade_date 索引加速广度查询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86384" y="4151376"/>
            <a:ext cx="3950208" cy="603504"/>
          </a:xfrm>
          <a:prstGeom prst="rect">
            <a:avLst/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151376"/>
            <a:ext cx="54864" cy="6035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969264" y="421538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executemany 批量写入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9264" y="444398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逐行 INSERT → 单事务批量提交，写入快 5-10 倍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937760" y="4151376"/>
            <a:ext cx="3950208" cy="603504"/>
          </a:xfrm>
          <a:prstGeom prst="rect">
            <a:avLst/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4151376"/>
            <a:ext cx="54864" cy="6035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421538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BaoStock 探测前哨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444398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先探 2 只大盘股，节假日空跑 15 分钟 → 2 秒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A股量化交易系统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65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工程亮点 ② — 健壮性设计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" y="11338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系统跑通只是起点 — 真正的工程量在于处理各种『非正常路径』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" y="1517904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9264" y="1700784"/>
            <a:ext cx="420624" cy="420624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9616" y="171907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自动补 gap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217627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落后多个交易日时循环补齐，最多 30 轮防失控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56432" y="1517904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9312" y="1700784"/>
            <a:ext cx="420624" cy="420624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9664" y="171907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节假日感知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57600" y="217627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trade_calendar 表识别法定节假日，自动跳过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517904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700784"/>
            <a:ext cx="420624" cy="420624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39712" y="171907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数据完整性阈值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27648" y="217627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动态按股票池 90% 校验，防部分故障被误判完整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86384" y="2871216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69264" y="3054096"/>
            <a:ext cx="420624" cy="420624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315010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99616" y="307238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三层数据源容错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87552" y="352958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Tushare → BaoStock → 精确诊断，层层兜底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456432" y="2871216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39312" y="3054096"/>
            <a:ext cx="420624" cy="420624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324" y="3150108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169664" y="307238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探测前哨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657600" y="352958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全市场查询前先探测，避免无效空跑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26480" y="2871216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309360" y="3054096"/>
            <a:ext cx="420624" cy="420624"/>
          </a:xfrm>
          <a:prstGeom prst="ellipse">
            <a:avLst/>
          </a:prstGeom>
          <a:solidFill>
            <a:srgbClr val="1F2D4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372" y="3150108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39712" y="307238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时效性自愈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327648" y="352958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每周一自动刷新股票名，捕捉 ST 戴帽/摘帽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A股量化交易系统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768096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65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工程亮点 ③ — 数据驱动决策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" y="11338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案例：『僵尸股过滤层』A/B 回测 — 用数据验证假设，而非凭直觉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86384" y="1517904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120640" y="1517904"/>
            <a:ext cx="3547872" cy="2468880"/>
          </a:xfrm>
          <a:prstGeom prst="roundRect">
            <a:avLst>
              <a:gd name="adj" fmla="val 2963"/>
            </a:avLst>
          </a:prstGeom>
          <a:solidFill>
            <a:srgbClr val="1F2D4E"/>
          </a:solidFill>
          <a:ln/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173736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79008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实验结论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340096" y="2194560"/>
            <a:ext cx="31272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过滤虽让胜率 +4.9%，但累计收益从 56.8% 砍到 29.5% — 几乎腰斩。</a:t>
            </a:r>
            <a:endParaRPr lang="en-US" sz="10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根因：用『过去 60 天没波动』判定僵尸，却误杀了『沉睡后觉醒』的慢牛。</a:t>
            </a:r>
            <a:endParaRPr lang="en-US" sz="10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决策：尊重数据，不上线该模块。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786384" y="4169664"/>
            <a:ext cx="7882128" cy="457200"/>
          </a:xfrm>
          <a:prstGeom prst="rect">
            <a:avLst/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50976" y="416966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工程方法论：  </a:t>
            </a:r>
            <a:pPr indent="0" marL="0">
              <a:buNone/>
            </a:pPr>
            <a:r>
              <a:rPr lang="en-US" sz="103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 ≥ 30 才下结论  ·  防 look-ahead bias  ·  参数改动必有回测依据  ·  结论为负也如实接受</a:t>
            </a:r>
            <a:endParaRPr lang="en-US" sz="1030" dirty="0"/>
          </a:p>
        </p:txBody>
      </p:sp>
      <p:sp>
        <p:nvSpPr>
          <p:cNvPr id="13" name="Text 9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A股量化交易系统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68096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65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回测引擎 — 贴近实盘的模拟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" y="12984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真实交易规则建模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82496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 — 当日买入次日才可卖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涨跌停无法成交 — 按板块/ST 阈值判定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次日开盘价成交 — 更接近实盘体验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完整费用 — 佣金万0.86 + 印花税0.1% + 最低5元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多种出场 — 硬止损 / 固定止盈 / 跟踪止盈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0" y="1298448"/>
            <a:ext cx="3547872" cy="2743200"/>
          </a:xfrm>
          <a:prstGeom prst="roundRect">
            <a:avLst>
              <a:gd name="adj" fmla="val 2667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096" y="149961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97296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回测能力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358384" y="2075688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5577840" y="1975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单标的引擎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77840" y="2231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事件驱动，支持进阶出场策略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58384" y="2734056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557784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共振组合回测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7784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全市场扫描 + 历史信号复现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58384" y="3392424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4"/>
          <p:cNvSpPr/>
          <p:nvPr/>
        </p:nvSpPr>
        <p:spPr>
          <a:xfrm>
            <a:off x="557784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绩效指标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77840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 / 胜率 / 回撤 / 夏普 / 盈亏比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A股量化交易系统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68096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65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这个项目体现的工程能力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86384" y="1298448"/>
            <a:ext cx="3950208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1545336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1545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17904" y="1426464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系统设计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17904" y="1728216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六层解耦架构，单层职责清晰、可独立替换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298448"/>
            <a:ext cx="3950208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545336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545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69280" y="1426464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性能调优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0" y="1728216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 I/O 瓶颈，批量化 + 索引 + WAL，实测百倍提速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" y="2340864"/>
            <a:ext cx="3950208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9264" y="258775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17904" y="246888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健壮性工程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17904" y="2770632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容错链 / 自愈 / 边界处理 — 覆盖非正常路径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340864"/>
            <a:ext cx="3950208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0" y="258775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669280" y="246888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数据工程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0" y="2770632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多源整合、增量更新、时效性管理、728 万行规模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" y="3383280"/>
            <a:ext cx="3950208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9264" y="363016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969264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17904" y="3511296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数据驱动决策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517904" y="3813048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回测验证假设，尊重数据、不凭直觉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383280"/>
            <a:ext cx="3950208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E0E5EF"/>
            </a:solidFill>
            <a:prstDash val="solid"/>
          </a:ln>
          <a:effectLst>
            <a:outerShdw sx="100000" sy="100000" kx="0" ky="0" algn="bl" rotWithShape="0" blurRad="88900" dist="38100" dir="8100000">
              <a:srgbClr val="1A254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20640" y="363016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669280" y="3511296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可维护性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669280" y="3813048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秘密管理、SQL 参数化、配置外置、日志规范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A股量化交易系统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182880" cy="1828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8129016" y="457200"/>
            <a:ext cx="182880" cy="182880"/>
          </a:xfrm>
          <a:prstGeom prst="rect">
            <a:avLst/>
          </a:prstGeom>
          <a:solidFill>
            <a:srgbClr val="E8A33D">
              <a:alpha val="8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39912" y="457200"/>
            <a:ext cx="182880" cy="182880"/>
          </a:xfrm>
          <a:prstGeom prst="rect">
            <a:avLst/>
          </a:prstGeom>
          <a:solidFill>
            <a:srgbClr val="E8A33D">
              <a:alpha val="7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768096"/>
            <a:ext cx="182880" cy="182880"/>
          </a:xfrm>
          <a:prstGeom prst="rect">
            <a:avLst/>
          </a:prstGeom>
          <a:solidFill>
            <a:srgbClr val="E8A33D">
              <a:alpha val="5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29016" y="768096"/>
            <a:ext cx="182880" cy="182880"/>
          </a:xfrm>
          <a:prstGeom prst="rect">
            <a:avLst/>
          </a:prstGeom>
          <a:solidFill>
            <a:srgbClr val="E8A33D">
              <a:alpha val="4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不止『能跑』，更追求『跑得稳、跑得快、改得动』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2971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系统设计      </a:t>
            </a:r>
            <a:pPr indent="0" marL="0">
              <a:buNone/>
            </a:pPr>
            <a:r>
              <a:rPr lang="en-US" sz="1400" b="1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性能调优      </a:t>
            </a:r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健壮性工程      </a:t>
            </a:r>
            <a:pPr indent="0" marL="0">
              <a:buNone/>
            </a:pPr>
            <a:r>
              <a:rPr lang="en-US" sz="1400" b="1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数据工程      </a:t>
            </a:r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数据驱动决策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3611880"/>
            <a:ext cx="45720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7947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股量化交易系统  ·  个人作品集  ·  Python / SQLite / 量化策略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41148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感谢阅读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A股量化交易系统 — 作品集</dc:title>
  <dc:subject>PptxGenJS Presentation</dc:subject>
  <dc:creator>Quant System Portfolio</dc:creator>
  <cp:lastModifiedBy>Quant System Portfolio</cp:lastModifiedBy>
  <cp:revision>1</cp:revision>
  <dcterms:created xsi:type="dcterms:W3CDTF">2026-05-20T04:10:29Z</dcterms:created>
  <dcterms:modified xsi:type="dcterms:W3CDTF">2026-05-20T04:10:29Z</dcterms:modified>
</cp:coreProperties>
</file>